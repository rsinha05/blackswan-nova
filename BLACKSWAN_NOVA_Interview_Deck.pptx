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280160"/>
            <a:ext cx="1078992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400" b="1">
                <a:solidFill>
                  <a:srgbClr val="00F0FF"/>
                </a:solidFill>
              </a:rPr>
              <a:t>BLACKSWAN NOVA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560320"/>
            <a:ext cx="109728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>
                <a:solidFill>
                  <a:srgbClr val="EBF0FA"/>
                </a:solidFill>
              </a:rPr>
              <a:t>Interview Deck: Monte Carlo Risk Engine
Cross-platform quantitative analytics for uncertainty, tail risk, and decision support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400" b="1">
                <a:solidFill>
                  <a:srgbClr val="00F0FF"/>
                </a:solidFill>
              </a:rPr>
              <a:t>Problem Statement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280160"/>
            <a:ext cx="1097280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200">
                <a:solidFill>
                  <a:srgbClr val="EBF0FA"/>
                </a:solidFill>
              </a:defRPr>
            </a:pPr>
            <a:r>
              <a:t>Most dashboards describe past performance but do not quantify forward-looking downside risk clearly.</a:t>
            </a:r>
          </a:p>
          <a:p>
            <a:pPr>
              <a:spcAft>
                <a:spcPts val="1000"/>
              </a:spcAft>
              <a:defRPr sz="2200">
                <a:solidFill>
                  <a:srgbClr val="EBF0FA"/>
                </a:solidFill>
              </a:defRPr>
            </a:pPr>
            <a:r>
              <a:t>Investors need practical answers: What can I lose at 95% confidence? How bad can tails get? How long can recovery take after a shock?</a:t>
            </a:r>
          </a:p>
          <a:p>
            <a:pPr>
              <a:spcAft>
                <a:spcPts val="1000"/>
              </a:spcAft>
              <a:defRPr sz="2200">
                <a:solidFill>
                  <a:srgbClr val="EBF0FA"/>
                </a:solidFill>
              </a:defRPr>
            </a:pPr>
            <a:r>
              <a:t>BLACKSWAN NOVA translates uncertainty into risk metrics, stress outcomes, and intuitive visuals for decision-making.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400" b="1">
                <a:solidFill>
                  <a:srgbClr val="00F0FF"/>
                </a:solidFill>
              </a:rPr>
              <a:t>Product 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280160"/>
            <a:ext cx="1097280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200">
                <a:solidFill>
                  <a:srgbClr val="EBF0FA"/>
                </a:solidFill>
              </a:defRPr>
            </a:pPr>
            <a:r>
              <a:t>Web engine (`index.html`) for full simulation workflow and instrument analytics.</a:t>
            </a:r>
          </a:p>
          <a:p>
            <a:pPr>
              <a:spcAft>
                <a:spcPts val="1000"/>
              </a:spcAft>
              <a:defRPr sz="2200">
                <a:solidFill>
                  <a:srgbClr val="EBF0FA"/>
                </a:solidFill>
              </a:defRPr>
            </a:pPr>
            <a:r>
              <a:t>FastAPI backend (`backend/main.py`) for high-performance risk and news endpoints.</a:t>
            </a:r>
          </a:p>
          <a:p>
            <a:pPr>
              <a:spcAft>
                <a:spcPts val="1000"/>
              </a:spcAft>
              <a:defRPr sz="2200">
                <a:solidFill>
                  <a:srgbClr val="EBF0FA"/>
                </a:solidFill>
              </a:defRPr>
            </a:pPr>
            <a:r>
              <a:t>Flutter mobile app (`blackswan_nova_app`) as a mobile companion for simulations and news intelligence.</a:t>
            </a:r>
          </a:p>
          <a:p>
            <a:pPr>
              <a:spcAft>
                <a:spcPts val="1000"/>
              </a:spcAft>
              <a:defRPr sz="2200">
                <a:solidFill>
                  <a:srgbClr val="EBF0FA"/>
                </a:solidFill>
              </a:defRPr>
            </a:pPr>
            <a:r>
              <a:t>Supabase + CSV-backed data pipeline for instrument universes and financial records.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00F0FF"/>
                </a:solidFill>
              </a:rPr>
              <a:t>System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88720"/>
            <a:ext cx="5303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A0AFC3"/>
                </a:solidFill>
              </a:rPr>
              <a:t>Frontend + Mobile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309360" y="1188720"/>
            <a:ext cx="5303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A0AFC3"/>
                </a:solidFill>
              </a:rPr>
              <a:t>Backend + 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737360"/>
            <a:ext cx="5212080" cy="44805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  <a:defRPr sz="1900">
                <a:solidFill>
                  <a:srgbClr val="EBF0FA"/>
                </a:solidFill>
              </a:defRPr>
            </a:pPr>
            <a:r>
              <a:t>Web dashboard performs interactive simulation controls and renders charts.</a:t>
            </a:r>
          </a:p>
          <a:p>
            <a:pPr>
              <a:spcAft>
                <a:spcPts val="800"/>
              </a:spcAft>
              <a:defRPr sz="1900">
                <a:solidFill>
                  <a:srgbClr val="EBF0FA"/>
                </a:solidFill>
              </a:defRPr>
            </a:pPr>
            <a:r>
              <a:t>Flutter app includes splash, dashboard, simulation, and news screens.</a:t>
            </a:r>
          </a:p>
          <a:p>
            <a:pPr>
              <a:spcAft>
                <a:spcPts val="800"/>
              </a:spcAft>
              <a:defRPr sz="1900">
                <a:solidFill>
                  <a:srgbClr val="EBF0FA"/>
                </a:solidFill>
              </a:defRPr>
            </a:pPr>
            <a:r>
              <a:t>Instrument list pulled from Supabase; simulation/news pulled from backend API.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1737360"/>
            <a:ext cx="5212080" cy="44805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  <a:defRPr sz="1900">
                <a:solidFill>
                  <a:srgbClr val="EBF0FA"/>
                </a:solidFill>
              </a:defRPr>
            </a:pPr>
            <a:r>
              <a:t>FastAPI endpoints: `/simulate`, `/stress`, `/portfolio`, `/news`, `/news/sentiment-summary`.</a:t>
            </a:r>
          </a:p>
          <a:p>
            <a:pPr>
              <a:spcAft>
                <a:spcPts val="800"/>
              </a:spcAft>
              <a:defRPr sz="1900">
                <a:solidFill>
                  <a:srgbClr val="EBF0FA"/>
                </a:solidFill>
              </a:defRPr>
            </a:pPr>
            <a:r>
              <a:t>NumPy/SciPy for vectorized modeling and tail metrics.</a:t>
            </a:r>
          </a:p>
          <a:p>
            <a:pPr>
              <a:spcAft>
                <a:spcPts val="800"/>
              </a:spcAft>
              <a:defRPr sz="1900">
                <a:solidFill>
                  <a:srgbClr val="EBF0FA"/>
                </a:solidFill>
              </a:defRPr>
            </a:pPr>
            <a:r>
              <a:t>Python sync scripts ingest and normalize market data into Supabase/CSV.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400" b="1">
                <a:solidFill>
                  <a:srgbClr val="00F0FF"/>
                </a:solidFill>
              </a:rPr>
              <a:t>Quantitative Modeling Depth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280160"/>
            <a:ext cx="1097280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200">
                <a:solidFill>
                  <a:srgbClr val="EBF0FA"/>
                </a:solidFill>
              </a:defRPr>
            </a:pPr>
            <a:r>
              <a:t>Geometric Brownian Motion (GBM) for baseline stochastic price path simulation.</a:t>
            </a:r>
          </a:p>
          <a:p>
            <a:pPr>
              <a:spcAft>
                <a:spcPts val="1000"/>
              </a:spcAft>
              <a:defRPr sz="2200">
                <a:solidFill>
                  <a:srgbClr val="EBF0FA"/>
                </a:solidFill>
              </a:defRPr>
            </a:pPr>
            <a:r>
              <a:t>GARCH-like volatility update captures volatility clustering and mean-reversion behavior.</a:t>
            </a:r>
          </a:p>
          <a:p>
            <a:pPr>
              <a:spcAft>
                <a:spcPts val="1000"/>
              </a:spcAft>
              <a:defRPr sz="2200">
                <a:solidFill>
                  <a:srgbClr val="EBF0FA"/>
                </a:solidFill>
              </a:defRPr>
            </a:pPr>
            <a:r>
              <a:t>Jump diffusion logic introduces discontinuous shocks for equities/indices.</a:t>
            </a:r>
          </a:p>
          <a:p>
            <a:pPr>
              <a:spcAft>
                <a:spcPts val="1000"/>
              </a:spcAft>
              <a:defRPr sz="2200">
                <a:solidFill>
                  <a:srgbClr val="EBF0FA"/>
                </a:solidFill>
              </a:defRPr>
            </a:pPr>
            <a:r>
              <a:t>Risk outputs include VaR95, CVaR95, and Cornish-Fisher adjusted VaR.</a:t>
            </a:r>
          </a:p>
          <a:p>
            <a:pPr>
              <a:spcAft>
                <a:spcPts val="1000"/>
              </a:spcAft>
              <a:defRPr sz="2200">
                <a:solidFill>
                  <a:srgbClr val="EBF0FA"/>
                </a:solidFill>
              </a:defRPr>
            </a:pPr>
            <a:r>
              <a:t>Portfolio simulation includes correlation structure and t-copula tail dependence concepts.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400" b="1">
                <a:solidFill>
                  <a:srgbClr val="00F0FF"/>
                </a:solidFill>
              </a:rPr>
              <a:t>Simulation Workflow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280160"/>
            <a:ext cx="1097280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200">
                <a:solidFill>
                  <a:srgbClr val="EBF0FA"/>
                </a:solidFill>
              </a:defRPr>
            </a:pPr>
            <a:r>
              <a:t>User inputs: initial price, drift, volatility, horizon, paths, and investment amount.</a:t>
            </a:r>
          </a:p>
          <a:p>
            <a:pPr>
              <a:spcAft>
                <a:spcPts val="1000"/>
              </a:spcAft>
              <a:defRPr sz="2200">
                <a:solidFill>
                  <a:srgbClr val="EBF0FA"/>
                </a:solidFill>
              </a:defRPr>
            </a:pPr>
            <a:r>
              <a:t>Engine generates thousands of paths and computes terminal PnL distribution.</a:t>
            </a:r>
          </a:p>
          <a:p>
            <a:pPr>
              <a:spcAft>
                <a:spcPts val="1000"/>
              </a:spcAft>
              <a:defRPr sz="2200">
                <a:solidFill>
                  <a:srgbClr val="EBF0FA"/>
                </a:solidFill>
              </a:defRPr>
            </a:pPr>
            <a:r>
              <a:t>Outputs: expected return, best/worst outcomes, VaR/CVaR, and distribution views.</a:t>
            </a:r>
          </a:p>
          <a:p>
            <a:pPr>
              <a:spcAft>
                <a:spcPts val="1000"/>
              </a:spcAft>
              <a:defRPr sz="2200">
                <a:solidFill>
                  <a:srgbClr val="EBF0FA"/>
                </a:solidFill>
              </a:defRPr>
            </a:pPr>
            <a:r>
              <a:t>Charts are downsampled for responsive rendering without losing risk intuition.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400" b="1">
                <a:solidFill>
                  <a:srgbClr val="00F0FF"/>
                </a:solidFill>
              </a:rPr>
              <a:t>Stress Testing &amp; Recovery Analytics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280160"/>
            <a:ext cx="1097280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200">
                <a:solidFill>
                  <a:srgbClr val="EBF0FA"/>
                </a:solidFill>
              </a:defRPr>
            </a:pPr>
            <a:r>
              <a:t>Applies adverse shocks (e.g., -30%) plus volatility spike at t=0.</a:t>
            </a:r>
          </a:p>
          <a:p>
            <a:pPr>
              <a:spcAft>
                <a:spcPts val="1000"/>
              </a:spcAft>
              <a:defRPr sz="2200">
                <a:solidFill>
                  <a:srgbClr val="EBF0FA"/>
                </a:solidFill>
              </a:defRPr>
            </a:pPr>
            <a:r>
              <a:t>Simulates forward trajectories over multi-year horizon.</a:t>
            </a:r>
          </a:p>
          <a:p>
            <a:pPr>
              <a:spcAft>
                <a:spcPts val="1000"/>
              </a:spcAft>
              <a:defRPr sz="2200">
                <a:solidFill>
                  <a:srgbClr val="EBF0FA"/>
                </a:solidFill>
              </a:defRPr>
            </a:pPr>
            <a:r>
              <a:t>Tracks expected recovery days/months and probability of recovery within 3 years.</a:t>
            </a:r>
          </a:p>
          <a:p>
            <a:pPr>
              <a:spcAft>
                <a:spcPts val="1000"/>
              </a:spcAft>
              <a:defRPr sz="2200">
                <a:solidFill>
                  <a:srgbClr val="EBF0FA"/>
                </a:solidFill>
              </a:defRPr>
            </a:pPr>
            <a:r>
              <a:t>Helps evaluate resilience beyond average-case expectations.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400" b="1">
                <a:solidFill>
                  <a:srgbClr val="00F0FF"/>
                </a:solidFill>
              </a:rPr>
              <a:t>News Intelligence Layer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280160"/>
            <a:ext cx="1097280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200">
                <a:solidFill>
                  <a:srgbClr val="EBF0FA"/>
                </a:solidFill>
              </a:defRPr>
            </a:pPr>
            <a:r>
              <a:t>Backend aggregates global + India-focused market news.</a:t>
            </a:r>
          </a:p>
          <a:p>
            <a:pPr>
              <a:spcAft>
                <a:spcPts val="1000"/>
              </a:spcAft>
              <a:defRPr sz="2200">
                <a:solidFill>
                  <a:srgbClr val="EBF0FA"/>
                </a:solidFill>
              </a:defRPr>
            </a:pPr>
            <a:r>
              <a:t>Sentiment scoring and labeling (Bullish/Neutral/Bearish) with ticker tagging.</a:t>
            </a:r>
          </a:p>
          <a:p>
            <a:pPr>
              <a:spcAft>
                <a:spcPts val="1000"/>
              </a:spcAft>
              <a:defRPr sz="2200">
                <a:solidFill>
                  <a:srgbClr val="EBF0FA"/>
                </a:solidFill>
              </a:defRPr>
            </a:pPr>
            <a:r>
              <a:t>5-minute in-memory cache reduces API pressure and improves UX responsiveness.</a:t>
            </a:r>
          </a:p>
          <a:p>
            <a:pPr>
              <a:spcAft>
                <a:spcPts val="1000"/>
              </a:spcAft>
              <a:defRPr sz="2200">
                <a:solidFill>
                  <a:srgbClr val="EBF0FA"/>
                </a:solidFill>
              </a:defRPr>
            </a:pPr>
            <a:r>
              <a:t>Companion summary endpoint returns market sentiment distribution and top tickers.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00F0FF"/>
                </a:solidFill>
              </a:rPr>
              <a:t>Data Engineering &amp; Pipelines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88720"/>
            <a:ext cx="5303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A0AFC3"/>
                </a:solidFill>
              </a:rPr>
              <a:t>Data Sources + Sync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309360" y="1188720"/>
            <a:ext cx="5303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A0AFC3"/>
                </a:solidFill>
              </a:rPr>
              <a:t>Operational Utilities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737360"/>
            <a:ext cx="5212080" cy="44805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  <a:defRPr sz="1900">
                <a:solidFill>
                  <a:srgbClr val="EBF0FA"/>
                </a:solidFill>
              </a:defRPr>
            </a:pPr>
            <a:r>
              <a:t>Yahoo Finance and market lists (S&amp;P/NSE/etc.) for instrument metadata and prices.</a:t>
            </a:r>
          </a:p>
          <a:p>
            <a:pPr>
              <a:spcAft>
                <a:spcPts val="800"/>
              </a:spcAft>
              <a:defRPr sz="1900">
                <a:solidFill>
                  <a:srgbClr val="EBF0FA"/>
                </a:solidFill>
              </a:defRPr>
            </a:pPr>
            <a:r>
              <a:t>Scripts: `master_sync.py`, `sync_rest.py`, `sync_data.py`, `fix_base_prices.py`.</a:t>
            </a:r>
          </a:p>
          <a:p>
            <a:pPr>
              <a:spcAft>
                <a:spcPts val="800"/>
              </a:spcAft>
              <a:defRPr sz="1900">
                <a:solidFill>
                  <a:srgbClr val="EBF0FA"/>
                </a:solidFill>
              </a:defRPr>
            </a:pPr>
            <a:r>
              <a:t>Supabase tables hold instruments + financial records.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1737360"/>
            <a:ext cx="5212080" cy="44805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  <a:defRPr sz="1900">
                <a:solidFill>
                  <a:srgbClr val="EBF0FA"/>
                </a:solidFill>
              </a:defRPr>
            </a:pPr>
            <a:r>
              <a:t>`seed_supabase.py` and `seed_financials.py` bootstrap records quickly.</a:t>
            </a:r>
          </a:p>
          <a:p>
            <a:pPr>
              <a:spcAft>
                <a:spcPts val="800"/>
              </a:spcAft>
              <a:defRPr sz="1900">
                <a:solidFill>
                  <a:srgbClr val="EBF0FA"/>
                </a:solidFill>
              </a:defRPr>
            </a:pPr>
            <a:r>
              <a:t>`inject_from_supabase.py` can statically inject instrument arrays into web for fast loading.</a:t>
            </a:r>
          </a:p>
          <a:p>
            <a:pPr>
              <a:spcAft>
                <a:spcPts val="800"/>
              </a:spcAft>
              <a:defRPr sz="1900">
                <a:solidFill>
                  <a:srgbClr val="EBF0FA"/>
                </a:solidFill>
              </a:defRPr>
            </a:pPr>
            <a:r>
              <a:t>`START_ENGINE.command` launches backend and opens frontend entry flow.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400" b="1">
                <a:solidFill>
                  <a:srgbClr val="00F0FF"/>
                </a:solidFill>
              </a:rPr>
              <a:t>Mobile Companion (Flutter)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280160"/>
            <a:ext cx="1097280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200">
                <a:solidFill>
                  <a:srgbClr val="EBF0FA"/>
                </a:solidFill>
              </a:defRPr>
            </a:pPr>
            <a:r>
              <a:t>Dark quantitative UI with bottom navigation and categorized instrument browsing.</a:t>
            </a:r>
          </a:p>
          <a:p>
            <a:pPr>
              <a:spcAft>
                <a:spcPts val="1000"/>
              </a:spcAft>
              <a:defRPr sz="2200">
                <a:solidFill>
                  <a:srgbClr val="EBF0FA"/>
                </a:solidFill>
              </a:defRPr>
            </a:pPr>
            <a:r>
              <a:t>Simulation screen exposes Monte Carlo, stress test, and parameter tuning tabs.</a:t>
            </a:r>
          </a:p>
          <a:p>
            <a:pPr>
              <a:spcAft>
                <a:spcPts val="1000"/>
              </a:spcAft>
              <a:defRPr sz="2200">
                <a:solidFill>
                  <a:srgbClr val="EBF0FA"/>
                </a:solidFill>
              </a:defRPr>
            </a:pPr>
            <a:r>
              <a:t>News screen surfaces sentiment split, article feed, and region filters.</a:t>
            </a:r>
          </a:p>
          <a:p>
            <a:pPr>
              <a:spcAft>
                <a:spcPts val="1000"/>
              </a:spcAft>
              <a:defRPr sz="2200">
                <a:solidFill>
                  <a:srgbClr val="EBF0FA"/>
                </a:solidFill>
              </a:defRPr>
            </a:pPr>
            <a:r>
              <a:t>API layer cleanly separates network service logic from UI state.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400" b="1">
                <a:solidFill>
                  <a:srgbClr val="00F0FF"/>
                </a:solidFill>
              </a:rPr>
              <a:t>Engineering Strengths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280160"/>
            <a:ext cx="1097280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200">
                <a:solidFill>
                  <a:srgbClr val="EBF0FA"/>
                </a:solidFill>
              </a:defRPr>
            </a:pPr>
            <a:r>
              <a:t>End-to-end ownership: quant model + API + frontend + mobile + data pipeline.</a:t>
            </a:r>
          </a:p>
          <a:p>
            <a:pPr>
              <a:spcAft>
                <a:spcPts val="1000"/>
              </a:spcAft>
              <a:defRPr sz="2200">
                <a:solidFill>
                  <a:srgbClr val="EBF0FA"/>
                </a:solidFill>
              </a:defRPr>
            </a:pPr>
            <a:r>
              <a:t>Strong practical modeling choices beyond naive Gaussian assumptions.</a:t>
            </a:r>
          </a:p>
          <a:p>
            <a:pPr>
              <a:spcAft>
                <a:spcPts val="1000"/>
              </a:spcAft>
              <a:defRPr sz="2200">
                <a:solidFill>
                  <a:srgbClr val="EBF0FA"/>
                </a:solidFill>
              </a:defRPr>
            </a:pPr>
            <a:r>
              <a:t>Performance-conscious rendering strategy for high-path simulations.</a:t>
            </a:r>
          </a:p>
          <a:p>
            <a:pPr>
              <a:spcAft>
                <a:spcPts val="1000"/>
              </a:spcAft>
              <a:defRPr sz="2200">
                <a:solidFill>
                  <a:srgbClr val="EBF0FA"/>
                </a:solidFill>
              </a:defRPr>
            </a:pPr>
            <a:r>
              <a:t>Product framing around explainable risk metrics rather than raw math alone.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400" b="1">
                <a:solidFill>
                  <a:srgbClr val="00F0FF"/>
                </a:solidFill>
              </a:rPr>
              <a:t>Risks, Gaps, and Production Hardening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280160"/>
            <a:ext cx="1097280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200">
                <a:solidFill>
                  <a:srgbClr val="EBF0FA"/>
                </a:solidFill>
              </a:defRPr>
            </a:pPr>
            <a:r>
              <a:t>Current code contains hardcoded keys/tokens in multiple scripts/services.</a:t>
            </a:r>
          </a:p>
          <a:p>
            <a:pPr>
              <a:spcAft>
                <a:spcPts val="1000"/>
              </a:spcAft>
              <a:defRPr sz="2200">
                <a:solidFill>
                  <a:srgbClr val="EBF0FA"/>
                </a:solidFill>
              </a:defRPr>
            </a:pPr>
            <a:r>
              <a:t>Some maintenance scripts are one-off and should be consolidated into reproducible jobs.</a:t>
            </a:r>
          </a:p>
          <a:p>
            <a:pPr>
              <a:spcAft>
                <a:spcPts val="1000"/>
              </a:spcAft>
              <a:defRPr sz="2200">
                <a:solidFill>
                  <a:srgbClr val="EBF0FA"/>
                </a:solidFill>
              </a:defRPr>
            </a:pPr>
            <a:r>
              <a:t>Model governance can be improved with formal backtesting/validation harnesses.</a:t>
            </a:r>
          </a:p>
          <a:p>
            <a:pPr>
              <a:spcAft>
                <a:spcPts val="1000"/>
              </a:spcAft>
              <a:defRPr sz="2200">
                <a:solidFill>
                  <a:srgbClr val="EBF0FA"/>
                </a:solidFill>
              </a:defRPr>
            </a:pPr>
            <a:r>
              <a:t>Immediate next actions: rotate secrets, migrate to env-based config, add CI secret scanning.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400" b="1">
                <a:solidFill>
                  <a:srgbClr val="00F0FF"/>
                </a:solidFill>
              </a:rPr>
              <a:t>Roadmap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280160"/>
            <a:ext cx="1097280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200">
                <a:solidFill>
                  <a:srgbClr val="EBF0FA"/>
                </a:solidFill>
              </a:defRPr>
            </a:pPr>
            <a:r>
              <a:t>Short-term: security cleanup, config centralization, stronger tests and CI.</a:t>
            </a:r>
          </a:p>
          <a:p>
            <a:pPr>
              <a:spcAft>
                <a:spcPts val="1000"/>
              </a:spcAft>
              <a:defRPr sz="2200">
                <a:solidFill>
                  <a:srgbClr val="EBF0FA"/>
                </a:solidFill>
              </a:defRPr>
            </a:pPr>
            <a:r>
              <a:t>Medium-term: add scenario libraries, richer portfolio constraints, and attribution analytics.</a:t>
            </a:r>
          </a:p>
          <a:p>
            <a:pPr>
              <a:spcAft>
                <a:spcPts val="1000"/>
              </a:spcAft>
              <a:defRPr sz="2200">
                <a:solidFill>
                  <a:srgbClr val="EBF0FA"/>
                </a:solidFill>
              </a:defRPr>
            </a:pPr>
            <a:r>
              <a:t>Long-term: deployable multi-tenant backend, auth, and institutional reporting workflows.</a:t>
            </a:r>
          </a:p>
          <a:p>
            <a:pPr>
              <a:spcAft>
                <a:spcPts val="1000"/>
              </a:spcAft>
              <a:defRPr sz="2200">
                <a:solidFill>
                  <a:srgbClr val="EBF0FA"/>
                </a:solidFill>
              </a:defRPr>
            </a:pPr>
            <a:r>
              <a:t>Research: calibrate jump/GARCH params from historical regimes per asset class.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400" b="1">
                <a:solidFill>
                  <a:srgbClr val="00F0FF"/>
                </a:solidFill>
              </a:rPr>
              <a:t>Interview Close (60-second pitch)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280160"/>
            <a:ext cx="1097280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200">
                <a:solidFill>
                  <a:srgbClr val="EBF0FA"/>
                </a:solidFill>
              </a:defRPr>
            </a:pPr>
            <a:r>
              <a:t>I built BLACKSWAN NOVA to convert uncertainty into actionable risk metrics across web and mobile.</a:t>
            </a:r>
          </a:p>
          <a:p>
            <a:pPr>
              <a:spcAft>
                <a:spcPts val="1000"/>
              </a:spcAft>
              <a:defRPr sz="2200">
                <a:solidFill>
                  <a:srgbClr val="EBF0FA"/>
                </a:solidFill>
              </a:defRPr>
            </a:pPr>
            <a:r>
              <a:t>Technically, it combines Monte Carlo simulation, volatility dynamics, jump behavior, and portfolio tail modeling.</a:t>
            </a:r>
          </a:p>
          <a:p>
            <a:pPr>
              <a:spcAft>
                <a:spcPts val="1000"/>
              </a:spcAft>
              <a:defRPr sz="2200">
                <a:solidFill>
                  <a:srgbClr val="EBF0FA"/>
                </a:solidFill>
              </a:defRPr>
            </a:pPr>
            <a:r>
              <a:t>The stack integrates FastAPI + NumPy/SciPy, Flutter UI, and Supabase-backed data pipelines.</a:t>
            </a:r>
          </a:p>
          <a:p>
            <a:pPr>
              <a:spcAft>
                <a:spcPts val="1000"/>
              </a:spcAft>
              <a:defRPr sz="2200">
                <a:solidFill>
                  <a:srgbClr val="EBF0FA"/>
                </a:solidFill>
              </a:defRPr>
            </a:pPr>
            <a:r>
              <a:t>The key contribution is balancing quantitative rigor with usable decision intelligence for real investors.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400" b="1">
                <a:solidFill>
                  <a:srgbClr val="00F0FF"/>
                </a:solidFill>
              </a:rPr>
              <a:t>Thank You / Q&amp;A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280160"/>
            <a:ext cx="1097280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200">
                <a:solidFill>
                  <a:srgbClr val="EBF0FA"/>
                </a:solidFill>
              </a:defRPr>
            </a:pPr>
            <a:r>
              <a:t>Happy to deep-dive into any area:</a:t>
            </a:r>
          </a:p>
          <a:p>
            <a:pPr>
              <a:spcAft>
                <a:spcPts val="1000"/>
              </a:spcAft>
              <a:defRPr sz="2200">
                <a:solidFill>
                  <a:srgbClr val="EBF0FA"/>
                </a:solidFill>
              </a:defRPr>
            </a:pPr>
            <a:r>
              <a:t>Modeling assumptions and math choices</a:t>
            </a:r>
          </a:p>
          <a:p>
            <a:pPr>
              <a:spcAft>
                <a:spcPts val="1000"/>
              </a:spcAft>
              <a:defRPr sz="2200">
                <a:solidFill>
                  <a:srgbClr val="EBF0FA"/>
                </a:solidFill>
              </a:defRPr>
            </a:pPr>
            <a:r>
              <a:t>System architecture and scale considerations</a:t>
            </a:r>
          </a:p>
          <a:p>
            <a:pPr>
              <a:spcAft>
                <a:spcPts val="1000"/>
              </a:spcAft>
              <a:defRPr sz="2200">
                <a:solidFill>
                  <a:srgbClr val="EBF0FA"/>
                </a:solidFill>
              </a:defRPr>
            </a:pPr>
            <a:r>
              <a:t>Trade-offs, debugging stories, and production-readiness improvements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